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2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1B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9832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1417320"/>
            <a:ext cx="6400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BEE856"/>
                </a:solidFill>
                <a:latin typeface="Verdana"/>
              </a:rPr>
              <a:t>IEEE BIGDATA CUP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28800"/>
            <a:ext cx="66751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5800" b="1">
                <a:solidFill>
                  <a:srgbClr val="E8F6F0"/>
                </a:solidFill>
                <a:latin typeface="Verdana"/>
              </a:rPr>
              <a:t>CarbonGlobe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880360"/>
            <a:ext cx="66751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 dirty="0">
                <a:solidFill>
                  <a:srgbClr val="2ECC91"/>
                </a:solidFill>
                <a:latin typeface="Verdana"/>
              </a:rPr>
              <a:t>Teaching AI to respect</a:t>
            </a:r>
          </a:p>
          <a:p>
            <a:pPr algn="l">
              <a:spcAft>
                <a:spcPts val="800"/>
              </a:spcAft>
            </a:pPr>
            <a:r>
              <a:rPr sz="3000" b="1" dirty="0">
                <a:solidFill>
                  <a:srgbClr val="2ECC91"/>
                </a:solidFill>
                <a:latin typeface="Verdana"/>
              </a:rPr>
              <a:t>forest physics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4160520"/>
            <a:ext cx="1920240" cy="64008"/>
          </a:xfrm>
          <a:prstGeom prst="rect">
            <a:avLst/>
          </a:prstGeom>
          <a:solidFill>
            <a:srgbClr val="FFB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4342515"/>
            <a:ext cx="6400800" cy="1020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 dirty="0">
                <a:solidFill>
                  <a:srgbClr val="9EBAB4"/>
                </a:solidFill>
                <a:latin typeface="Calibri"/>
              </a:rPr>
              <a:t>Physics-guided deep sequence emulation of canopy height and</a:t>
            </a:r>
          </a:p>
          <a:p>
            <a:pPr algn="l">
              <a:spcAft>
                <a:spcPts val="800"/>
              </a:spcAft>
            </a:pPr>
            <a:r>
              <a:rPr sz="1600" b="0" dirty="0">
                <a:solidFill>
                  <a:srgbClr val="9EBAB4"/>
                </a:solidFill>
                <a:latin typeface="Calibri"/>
              </a:rPr>
              <a:t>above-ground biomass across a 40-year climate horizon.</a:t>
            </a:r>
          </a:p>
          <a:p>
            <a:pPr algn="l">
              <a:spcAft>
                <a:spcPts val="600"/>
              </a:spcAft>
            </a:pPr>
            <a:r>
              <a:rPr sz="1500" b="1" dirty="0">
                <a:solidFill>
                  <a:srgbClr val="BEE856"/>
                </a:solidFill>
                <a:latin typeface="Calibri"/>
              </a:rPr>
              <a:t>Bharath K · SSN College of Engineering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394960"/>
            <a:ext cx="1508760" cy="868680"/>
          </a:xfrm>
          <a:prstGeom prst="rect">
            <a:avLst/>
          </a:prstGeom>
          <a:solidFill>
            <a:srgbClr val="0F2C32"/>
          </a:solidFill>
          <a:ln w="19050">
            <a:solidFill>
              <a:srgbClr val="18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5532120"/>
            <a:ext cx="1234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BEE856"/>
                </a:solidFill>
                <a:latin typeface="Verdana"/>
              </a:rPr>
              <a:t>185,130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870448"/>
            <a:ext cx="1234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9EBAB4"/>
                </a:solidFill>
                <a:latin typeface="Calibri"/>
              </a:rPr>
              <a:t>Predictions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68880" y="5394960"/>
            <a:ext cx="1508760" cy="868680"/>
          </a:xfrm>
          <a:prstGeom prst="rect">
            <a:avLst/>
          </a:prstGeom>
          <a:solidFill>
            <a:srgbClr val="0F2C32"/>
          </a:solidFill>
          <a:ln w="19050">
            <a:solidFill>
              <a:srgbClr val="18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606040" y="5532120"/>
            <a:ext cx="1234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BEE856"/>
                </a:solidFill>
                <a:latin typeface="Verdana"/>
              </a:rPr>
              <a:t>480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5870448"/>
            <a:ext cx="1234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9EBAB4"/>
                </a:solidFill>
                <a:latin typeface="Calibri"/>
              </a:rPr>
              <a:t>Monthly Steps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60520" y="5394960"/>
            <a:ext cx="1508760" cy="868680"/>
          </a:xfrm>
          <a:prstGeom prst="rect">
            <a:avLst/>
          </a:prstGeom>
          <a:solidFill>
            <a:srgbClr val="0F2C32"/>
          </a:solidFill>
          <a:ln w="19050">
            <a:solidFill>
              <a:srgbClr val="18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297680" y="5532120"/>
            <a:ext cx="1234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BEE856"/>
                </a:solidFill>
                <a:latin typeface="Verdana"/>
              </a:rPr>
              <a:t>15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5870448"/>
            <a:ext cx="1234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9EBAB4"/>
                </a:solidFill>
                <a:latin typeface="Calibri"/>
              </a:rPr>
              <a:t>Stand Ages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852160" y="5394960"/>
            <a:ext cx="1508760" cy="868680"/>
          </a:xfrm>
          <a:prstGeom prst="rect">
            <a:avLst/>
          </a:prstGeom>
          <a:solidFill>
            <a:srgbClr val="0F2C32"/>
          </a:solidFill>
          <a:ln w="19050">
            <a:solidFill>
              <a:srgbClr val="18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989320" y="5532120"/>
            <a:ext cx="1234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BEE856"/>
                </a:solidFill>
                <a:latin typeface="Verdana"/>
              </a:rPr>
              <a:t>0.072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89320" y="5870448"/>
            <a:ext cx="1234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9EBAB4"/>
                </a:solidFill>
                <a:latin typeface="Calibri"/>
              </a:rPr>
              <a:t>Competition Score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1B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19456" cy="6858000"/>
          </a:xfrm>
          <a:prstGeom prst="rect">
            <a:avLst/>
          </a:prstGeom>
          <a:solidFill>
            <a:srgbClr val="2EC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FFBE54"/>
                </a:solidFill>
                <a:latin typeface="Verdana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9EBAB4"/>
                </a:solidFill>
                <a:latin typeface="Verdana"/>
              </a:rPr>
              <a:t>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33271"/>
            <a:ext cx="10789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100" b="1">
                <a:solidFill>
                  <a:srgbClr val="E8F6F0"/>
                </a:solidFill>
                <a:latin typeface="Verdana"/>
              </a:rPr>
              <a:t>Forecasting forests beyond observed history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667512" y="1828800"/>
            <a:ext cx="1554480" cy="50292"/>
          </a:xfrm>
          <a:prstGeom prst="rect">
            <a:avLst/>
          </a:prstGeom>
          <a:solidFill>
            <a:srgbClr val="BEE8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502920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9EBAB4"/>
                </a:solidFill>
                <a:latin typeface="Calibri"/>
              </a:rPr>
              <a:t>Climate change asks forest models to predict outside the conditions represented in historical data.</a:t>
            </a:r>
          </a:p>
          <a:p>
            <a:pPr algn="l">
              <a:spcAft>
                <a:spcPts val="800"/>
              </a:spcAft>
            </a:pPr>
            <a:endParaRPr sz="1700" b="0">
              <a:solidFill>
                <a:srgbClr val="9EBAB4"/>
              </a:solidFill>
              <a:latin typeface="Calibri"/>
            </a:endParaRP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9EBAB4"/>
                </a:solidFill>
                <a:latin typeface="Calibri"/>
              </a:rPr>
              <a:t>A model that mainly learns where forests grow may miss how forests respond when climate and disturbance patterns shift.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989320" y="2103120"/>
            <a:ext cx="5623560" cy="4023360"/>
          </a:xfrm>
          <a:prstGeom prst="rect">
            <a:avLst/>
          </a:prstGeom>
          <a:solidFill>
            <a:srgbClr val="0F2C32"/>
          </a:solidFill>
          <a:ln w="19050">
            <a:solidFill>
              <a:srgbClr val="18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fail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2032" y="2286000"/>
            <a:ext cx="525780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09360" y="5074920"/>
            <a:ext cx="5029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BEE856"/>
                </a:solidFill>
                <a:latin typeface="Verdana"/>
              </a:rPr>
              <a:t>Geographic shortcuts can create implausible future forest outcomes.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9EBAB4"/>
                </a:solidFill>
                <a:latin typeface="Calibri"/>
              </a:rPr>
              <a:t>CarbonGlobe · Forest Forecasting under Climate Change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9EBAB4"/>
                </a:solidFill>
                <a:latin typeface="Calibr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1B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19456" cy="6858000"/>
          </a:xfrm>
          <a:prstGeom prst="rect">
            <a:avLst/>
          </a:prstGeom>
          <a:solidFill>
            <a:srgbClr val="2EC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FFBE54"/>
                </a:solidFill>
                <a:latin typeface="Verdana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9EBAB4"/>
                </a:solidFill>
                <a:latin typeface="Verdana"/>
              </a:rPr>
              <a:t>PROBLEM COMPLEXITY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33271"/>
            <a:ext cx="10789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100" b="1" dirty="0">
                <a:solidFill>
                  <a:srgbClr val="E8F6F0"/>
                </a:solidFill>
                <a:latin typeface="Verdana"/>
              </a:rPr>
              <a:t>High dimensionality, sequential drift &amp; non-linear demography</a:t>
            </a:r>
          </a:p>
        </p:txBody>
      </p:sp>
      <p:sp>
        <p:nvSpPr>
          <p:cNvPr id="6" name="Rectangle 5"/>
          <p:cNvSpPr/>
          <p:nvPr/>
        </p:nvSpPr>
        <p:spPr>
          <a:xfrm>
            <a:off x="746170" y="2056710"/>
            <a:ext cx="1554480" cy="50292"/>
          </a:xfrm>
          <a:prstGeom prst="rect">
            <a:avLst/>
          </a:prstGeom>
          <a:solidFill>
            <a:srgbClr val="BEE8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sc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48840"/>
            <a:ext cx="7406640" cy="3749039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366760" y="2148840"/>
            <a:ext cx="3246120" cy="3749039"/>
          </a:xfrm>
          <a:prstGeom prst="rect">
            <a:avLst/>
          </a:prstGeom>
          <a:solidFill>
            <a:srgbClr val="185E58"/>
          </a:solidFill>
          <a:ln w="19050">
            <a:solidFill>
              <a:srgbClr val="2EC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41080" y="2468880"/>
            <a:ext cx="269748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E8F6F0"/>
                </a:solidFill>
                <a:latin typeface="Verdana"/>
              </a:rPr>
              <a:t>Standard recurrent models (LSTM) compound step-by-step errors over 40 years, scoring 0.186.</a:t>
            </a:r>
          </a:p>
          <a:p>
            <a:pPr algn="l">
              <a:spcAft>
                <a:spcPts val="800"/>
              </a:spcAft>
            </a:pPr>
            <a:endParaRPr sz="1600" b="1">
              <a:solidFill>
                <a:srgbClr val="E8F6F0"/>
              </a:solidFill>
              <a:latin typeface="Verdana"/>
            </a:endParaRP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E8F6F0"/>
                </a:solidFill>
                <a:latin typeface="Verdana"/>
              </a:rPr>
              <a:t>480 monthly steps across 136 climate features demand structured multi-scale modeling.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9EBAB4"/>
                </a:solidFill>
                <a:latin typeface="Calibri"/>
              </a:rPr>
              <a:t>CarbonGlobe · Forest Forecasting under Climate Change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9EBAB4"/>
                </a:solidFill>
                <a:latin typeface="Calibr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1B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19456" cy="6858000"/>
          </a:xfrm>
          <a:prstGeom prst="rect">
            <a:avLst/>
          </a:prstGeom>
          <a:solidFill>
            <a:srgbClr val="2EC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FFBE54"/>
                </a:solidFill>
                <a:latin typeface="Verdana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9EBAB4"/>
                </a:solidFill>
                <a:latin typeface="Verdana"/>
              </a:rPr>
              <a:t>APPROACH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33271"/>
            <a:ext cx="10789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100" b="1">
                <a:solidFill>
                  <a:srgbClr val="E8F6F0"/>
                </a:solidFill>
                <a:latin typeface="Verdana"/>
              </a:rPr>
              <a:t>Physics-guided residual learning 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667512" y="1828800"/>
            <a:ext cx="1554480" cy="50292"/>
          </a:xfrm>
          <a:prstGeom prst="rect">
            <a:avLst/>
          </a:prstGeom>
          <a:solidFill>
            <a:srgbClr val="BEE8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5303520" cy="1645920"/>
          </a:xfrm>
          <a:prstGeom prst="rect">
            <a:avLst/>
          </a:prstGeom>
          <a:solidFill>
            <a:srgbClr val="0F2C32"/>
          </a:solidFill>
          <a:ln w="19050">
            <a:solidFill>
              <a:srgbClr val="2EC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2194560"/>
            <a:ext cx="128016" cy="1645920"/>
          </a:xfrm>
          <a:prstGeom prst="rect">
            <a:avLst/>
          </a:prstGeom>
          <a:solidFill>
            <a:srgbClr val="2EC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2395728"/>
            <a:ext cx="4663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BEE856"/>
                </a:solidFill>
                <a:latin typeface="Verdana"/>
              </a:rPr>
              <a:t>EcoPrior Baseline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852928"/>
            <a:ext cx="46634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9EBAB4"/>
                </a:solidFill>
                <a:latin typeface="Calibri"/>
              </a:rPr>
              <a:t>Logarithmic growth prior g(a)=log(a+1) anchors natural stand aging (0.092 baseline).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2194560"/>
            <a:ext cx="5303520" cy="1645920"/>
          </a:xfrm>
          <a:prstGeom prst="rect">
            <a:avLst/>
          </a:prstGeom>
          <a:solidFill>
            <a:srgbClr val="0F2C32"/>
          </a:solidFill>
          <a:ln w="19050">
            <a:solidFill>
              <a:srgbClr val="BEE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217920" y="2194560"/>
            <a:ext cx="128016" cy="1645920"/>
          </a:xfrm>
          <a:prstGeom prst="rect">
            <a:avLst/>
          </a:prstGeom>
          <a:solidFill>
            <a:srgbClr val="BEE8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83680" y="2395728"/>
            <a:ext cx="4663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BEE856"/>
                </a:solidFill>
                <a:latin typeface="Verdana"/>
              </a:rPr>
              <a:t>Temporal Decomposition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852928"/>
            <a:ext cx="46634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9EBAB4"/>
                </a:solidFill>
                <a:latin typeface="Calibri"/>
              </a:rPr>
              <a:t>Separates 40-year multi-decadal trends from acute monthly seasonal weather shocks.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114800"/>
            <a:ext cx="5303520" cy="1645920"/>
          </a:xfrm>
          <a:prstGeom prst="rect">
            <a:avLst/>
          </a:prstGeom>
          <a:solidFill>
            <a:srgbClr val="0F2C32"/>
          </a:solidFill>
          <a:ln w="19050">
            <a:solidFill>
              <a:srgbClr val="FFBE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40080" y="4114800"/>
            <a:ext cx="128016" cy="1645920"/>
          </a:xfrm>
          <a:prstGeom prst="rect">
            <a:avLst/>
          </a:prstGeom>
          <a:solidFill>
            <a:srgbClr val="FFB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05840" y="4315968"/>
            <a:ext cx="4663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BEE856"/>
                </a:solidFill>
                <a:latin typeface="Verdana"/>
              </a:rPr>
              <a:t>Chronosequence Attention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4773168"/>
            <a:ext cx="46634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9EBAB4"/>
                </a:solidFill>
                <a:latin typeface="Calibri"/>
              </a:rPr>
              <a:t>Models canopy closure and structural competition across 15 initial stand ages.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4114800"/>
            <a:ext cx="5303520" cy="1645920"/>
          </a:xfrm>
          <a:prstGeom prst="rect">
            <a:avLst/>
          </a:prstGeom>
          <a:solidFill>
            <a:srgbClr val="0F2C32"/>
          </a:solidFill>
          <a:ln w="19050">
            <a:solidFill>
              <a:srgbClr val="FF766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217920" y="4114800"/>
            <a:ext cx="128016" cy="1645920"/>
          </a:xfrm>
          <a:prstGeom prst="rect">
            <a:avLst/>
          </a:prstGeom>
          <a:solidFill>
            <a:srgbClr val="FF76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583680" y="4315968"/>
            <a:ext cx="4663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BEE856"/>
                </a:solidFill>
                <a:latin typeface="Verdana"/>
              </a:rPr>
              <a:t>Clamping &amp; Calibration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4773168"/>
            <a:ext cx="46634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9EBAB4"/>
                </a:solidFill>
                <a:latin typeface="Calibri"/>
              </a:rPr>
              <a:t>Tundra protection (43.8% rows) and 5-pass mean alignment to 0.8999 H and 0.9238 AGB.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9EBAB4"/>
                </a:solidFill>
                <a:latin typeface="Calibri"/>
              </a:rPr>
              <a:t>CarbonGlobe · Forest Forecasting under Climate Change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9EBAB4"/>
                </a:solidFill>
                <a:latin typeface="Calibr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1B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19456" cy="6858000"/>
          </a:xfrm>
          <a:prstGeom prst="rect">
            <a:avLst/>
          </a:prstGeom>
          <a:solidFill>
            <a:srgbClr val="2EC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FFBE54"/>
                </a:solidFill>
                <a:latin typeface="Verdana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9EBAB4"/>
                </a:solidFill>
                <a:latin typeface="Verdana"/>
              </a:rP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33271"/>
            <a:ext cx="10789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100" b="1">
                <a:solidFill>
                  <a:srgbClr val="E8F6F0"/>
                </a:solidFill>
                <a:latin typeface="Verdana"/>
              </a:rPr>
              <a:t>From historical observations to constrained forecasts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56002" y="2007108"/>
            <a:ext cx="1554480" cy="50292"/>
          </a:xfrm>
          <a:prstGeom prst="rect">
            <a:avLst/>
          </a:prstGeom>
          <a:solidFill>
            <a:srgbClr val="BEE8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057400"/>
            <a:ext cx="10927080" cy="3931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9EBAB4"/>
                </a:solidFill>
                <a:latin typeface="Calibri"/>
              </a:rPr>
              <a:t>CarbonGlobe · Forest Forecasting under Climate Change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9EBAB4"/>
                </a:solidFill>
                <a:latin typeface="Calibr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1B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19456" cy="6858000"/>
          </a:xfrm>
          <a:prstGeom prst="rect">
            <a:avLst/>
          </a:prstGeom>
          <a:solidFill>
            <a:srgbClr val="2EC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FFBE54"/>
                </a:solidFill>
                <a:latin typeface="Verdana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9EBAB4"/>
                </a:solidFill>
                <a:latin typeface="Verdana"/>
              </a:rPr>
              <a:t>MODELING LAYER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33271"/>
            <a:ext cx="10789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100" b="1">
                <a:solidFill>
                  <a:srgbClr val="E8F6F0"/>
                </a:solidFill>
                <a:latin typeface="Verdana"/>
              </a:rPr>
              <a:t>Dual-branch deep sequence neural 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667512" y="1828800"/>
            <a:ext cx="1554480" cy="50292"/>
          </a:xfrm>
          <a:prstGeom prst="rect">
            <a:avLst/>
          </a:prstGeom>
          <a:solidFill>
            <a:srgbClr val="BEE8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mod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057400"/>
            <a:ext cx="6675120" cy="39319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589520" y="2057400"/>
            <a:ext cx="4023360" cy="4274574"/>
          </a:xfrm>
          <a:prstGeom prst="rect">
            <a:avLst/>
          </a:prstGeom>
          <a:solidFill>
            <a:srgbClr val="0F2C32"/>
          </a:solidFill>
          <a:ln w="19050">
            <a:solidFill>
              <a:srgbClr val="BEE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829919" y="2286000"/>
            <a:ext cx="34290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dirty="0">
                <a:solidFill>
                  <a:srgbClr val="9EBAB4"/>
                </a:solidFill>
                <a:latin typeface="Calibri"/>
              </a:rPr>
              <a:t>• Trend Encoder: Dilated Conv1D + </a:t>
            </a:r>
            <a:r>
              <a:rPr sz="1400" b="0" dirty="0" err="1">
                <a:solidFill>
                  <a:srgbClr val="9EBAB4"/>
                </a:solidFill>
                <a:latin typeface="Calibri"/>
              </a:rPr>
              <a:t>BiGRU</a:t>
            </a:r>
            <a:r>
              <a:rPr sz="1400" b="0" dirty="0">
                <a:solidFill>
                  <a:srgbClr val="9EBAB4"/>
                </a:solidFill>
                <a:latin typeface="Calibri"/>
              </a:rPr>
              <a:t> captures 40-yr climate trends (408 ch)</a:t>
            </a:r>
          </a:p>
          <a:p>
            <a:pPr algn="l">
              <a:spcAft>
                <a:spcPts val="800"/>
              </a:spcAft>
            </a:pPr>
            <a:endParaRPr sz="1400" b="0" dirty="0">
              <a:solidFill>
                <a:srgbClr val="9EBAB4"/>
              </a:solidFill>
              <a:latin typeface="Calibri"/>
            </a:endParaRPr>
          </a:p>
          <a:p>
            <a:pPr algn="l">
              <a:spcAft>
                <a:spcPts val="800"/>
              </a:spcAft>
            </a:pPr>
            <a:r>
              <a:rPr sz="1400" b="0" dirty="0">
                <a:solidFill>
                  <a:srgbClr val="9EBAB4"/>
                </a:solidFill>
                <a:latin typeface="Calibri"/>
              </a:rPr>
              <a:t>• Seasonal Shock Encoder: Pointwise 1D-CNN extracts weather extremes (544 ch)</a:t>
            </a:r>
          </a:p>
          <a:p>
            <a:pPr algn="l">
              <a:spcAft>
                <a:spcPts val="800"/>
              </a:spcAft>
            </a:pPr>
            <a:endParaRPr sz="1400" b="0" dirty="0">
              <a:solidFill>
                <a:srgbClr val="9EBAB4"/>
              </a:solidFill>
              <a:latin typeface="Calibri"/>
            </a:endParaRPr>
          </a:p>
          <a:p>
            <a:pPr algn="l">
              <a:spcAft>
                <a:spcPts val="800"/>
              </a:spcAft>
            </a:pPr>
            <a:r>
              <a:rPr sz="1400" b="0" dirty="0">
                <a:solidFill>
                  <a:srgbClr val="9EBAB4"/>
                </a:solidFill>
                <a:latin typeface="Calibri"/>
              </a:rPr>
              <a:t>• Stand Attention: 4-head Multi-Head Self-Attention across 15 stand ages</a:t>
            </a:r>
          </a:p>
          <a:p>
            <a:pPr algn="l">
              <a:spcAft>
                <a:spcPts val="800"/>
              </a:spcAft>
            </a:pPr>
            <a:endParaRPr sz="1400" b="0" dirty="0">
              <a:solidFill>
                <a:srgbClr val="9EBAB4"/>
              </a:solidFill>
              <a:latin typeface="Calibri"/>
            </a:endParaRPr>
          </a:p>
          <a:p>
            <a:pPr algn="l">
              <a:spcAft>
                <a:spcPts val="800"/>
              </a:spcAft>
            </a:pPr>
            <a:r>
              <a:rPr sz="1400" b="0" dirty="0">
                <a:solidFill>
                  <a:srgbClr val="9EBAB4"/>
                </a:solidFill>
                <a:latin typeface="Calibri"/>
              </a:rPr>
              <a:t>• Residual Formulation: Network predicts climate delta to prior: Y = </a:t>
            </a:r>
            <a:r>
              <a:rPr sz="1400" b="0" dirty="0" err="1">
                <a:solidFill>
                  <a:srgbClr val="9EBAB4"/>
                </a:solidFill>
                <a:latin typeface="Calibri"/>
              </a:rPr>
              <a:t>EcoPrior</a:t>
            </a:r>
            <a:r>
              <a:rPr sz="1400" b="0" dirty="0">
                <a:solidFill>
                  <a:srgbClr val="9EBAB4"/>
                </a:solidFill>
                <a:latin typeface="Calibri"/>
              </a:rPr>
              <a:t> + α·Δ</a:t>
            </a:r>
          </a:p>
          <a:p>
            <a:pPr algn="l">
              <a:spcAft>
                <a:spcPts val="800"/>
              </a:spcAft>
            </a:pPr>
            <a:endParaRPr sz="1400" b="0" dirty="0">
              <a:solidFill>
                <a:srgbClr val="9EBAB4"/>
              </a:solidFill>
              <a:latin typeface="Calibri"/>
            </a:endParaRPr>
          </a:p>
          <a:p>
            <a:pPr algn="l">
              <a:spcAft>
                <a:spcPts val="800"/>
              </a:spcAft>
            </a:pPr>
            <a:r>
              <a:rPr sz="1400" b="0" dirty="0">
                <a:solidFill>
                  <a:srgbClr val="9EBAB4"/>
                </a:solidFill>
                <a:latin typeface="Calibri"/>
              </a:rPr>
              <a:t>• Multi-Task Regularization: Evaluates 8 checkpoints across 7 ecological variables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9EBAB4"/>
                </a:solidFill>
                <a:latin typeface="Calibri"/>
              </a:rPr>
              <a:t>CarbonGlobe · Forest Forecasting under Climate Change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9EBAB4"/>
                </a:solidFill>
                <a:latin typeface="Calibr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1B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19456" cy="6858000"/>
          </a:xfrm>
          <a:prstGeom prst="rect">
            <a:avLst/>
          </a:prstGeom>
          <a:solidFill>
            <a:srgbClr val="2EC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FFBE54"/>
                </a:solidFill>
                <a:latin typeface="Verdana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9EBAB4"/>
                </a:solidFill>
                <a:latin typeface="Verdana"/>
              </a:rPr>
              <a:t>ENSEMBLE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33271"/>
            <a:ext cx="10789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100" b="1" dirty="0">
                <a:solidFill>
                  <a:srgbClr val="E8F6F0"/>
                </a:solidFill>
                <a:latin typeface="Verdana"/>
              </a:rPr>
              <a:t>40-model deep bagged ensemble (4 Seeds × 10 Folds)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027410"/>
            <a:ext cx="1554480" cy="45719"/>
          </a:xfrm>
          <a:prstGeom prst="rect">
            <a:avLst/>
          </a:prstGeom>
          <a:solidFill>
            <a:srgbClr val="BEE8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2240280"/>
            <a:ext cx="6583680" cy="1097280"/>
          </a:xfrm>
          <a:prstGeom prst="rect">
            <a:avLst/>
          </a:prstGeom>
          <a:solidFill>
            <a:srgbClr val="0F2C32"/>
          </a:solidFill>
          <a:ln w="19050">
            <a:solidFill>
              <a:srgbClr val="2EC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2240280"/>
            <a:ext cx="128016" cy="1097280"/>
          </a:xfrm>
          <a:prstGeom prst="rect">
            <a:avLst/>
          </a:prstGeom>
          <a:solidFill>
            <a:srgbClr val="2EC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2386584"/>
            <a:ext cx="6035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BEE856"/>
                </a:solidFill>
                <a:latin typeface="Verdana"/>
              </a:rPr>
              <a:t>Multi-Seed Bagging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807208"/>
            <a:ext cx="6035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250" b="0">
                <a:solidFill>
                  <a:srgbClr val="9EBAB4"/>
                </a:solidFill>
                <a:latin typeface="Calibri"/>
              </a:rPr>
              <a:t>Trained across 4 seeds [42, 2026, 777, 1337] with 10 folds to eliminate seed variance.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566160"/>
            <a:ext cx="6583680" cy="1097280"/>
          </a:xfrm>
          <a:prstGeom prst="rect">
            <a:avLst/>
          </a:prstGeom>
          <a:solidFill>
            <a:srgbClr val="0F2C32"/>
          </a:solidFill>
          <a:ln w="19050">
            <a:solidFill>
              <a:srgbClr val="BEE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40080" y="3566160"/>
            <a:ext cx="128016" cy="1097280"/>
          </a:xfrm>
          <a:prstGeom prst="rect">
            <a:avLst/>
          </a:prstGeom>
          <a:solidFill>
            <a:srgbClr val="BEE8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60120" y="3712464"/>
            <a:ext cx="6035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BEE856"/>
                </a:solidFill>
                <a:latin typeface="Verdana"/>
              </a:rPr>
              <a:t>Spatial Leakage Prevention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133088"/>
            <a:ext cx="6035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250" b="0">
                <a:solidFill>
                  <a:srgbClr val="9EBAB4"/>
                </a:solidFill>
                <a:latin typeface="Calibri"/>
              </a:rPr>
              <a:t>Site-level Grouped KFold keeps all 15 ages of each site together in train or val.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892040"/>
            <a:ext cx="6583680" cy="1097280"/>
          </a:xfrm>
          <a:prstGeom prst="rect">
            <a:avLst/>
          </a:prstGeom>
          <a:solidFill>
            <a:srgbClr val="0F2C32"/>
          </a:solidFill>
          <a:ln w="19050">
            <a:solidFill>
              <a:srgbClr val="FFBE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40080" y="4892040"/>
            <a:ext cx="128016" cy="1097280"/>
          </a:xfrm>
          <a:prstGeom prst="rect">
            <a:avLst/>
          </a:prstGeom>
          <a:solidFill>
            <a:srgbClr val="FFB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60120" y="5038344"/>
            <a:ext cx="6035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BEE856"/>
                </a:solidFill>
                <a:latin typeface="Verdana"/>
              </a:rPr>
              <a:t>Optimization Schedule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5458968"/>
            <a:ext cx="6035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250" b="0">
                <a:solidFill>
                  <a:srgbClr val="9EBAB4"/>
                </a:solidFill>
                <a:latin typeface="Calibri"/>
              </a:rPr>
              <a:t>AdamW optimizer with Cosine Annealing learning rate schedule (1.8e-3 to 1e-5).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79" y="2240280"/>
            <a:ext cx="4114800" cy="3218688"/>
          </a:xfrm>
          <a:prstGeom prst="rect">
            <a:avLst/>
          </a:prstGeom>
          <a:solidFill>
            <a:srgbClr val="185E58"/>
          </a:solidFill>
          <a:ln w="19050">
            <a:solidFill>
              <a:srgbClr val="2EC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818120" y="2560320"/>
            <a:ext cx="347472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 dirty="0">
                <a:solidFill>
                  <a:srgbClr val="E8F6F0"/>
                </a:solidFill>
                <a:latin typeface="Verdana"/>
              </a:rPr>
              <a:t>40-model deep ensemble averaging reduces single-model variance from 0.079 down to 0.072.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9EBAB4"/>
                </a:solidFill>
                <a:latin typeface="Calibri"/>
              </a:rPr>
              <a:t>CarbonGlobe · Forest Forecasting under Climate Change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9EBAB4"/>
                </a:solidFill>
                <a:latin typeface="Calibr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1B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19456" cy="6858000"/>
          </a:xfrm>
          <a:prstGeom prst="rect">
            <a:avLst/>
          </a:prstGeom>
          <a:solidFill>
            <a:srgbClr val="2EC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FFBE54"/>
                </a:solidFill>
                <a:latin typeface="Verdana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9EBAB4"/>
                </a:solidFill>
                <a:latin typeface="Verdana"/>
              </a:rPr>
              <a:t>PHYSICAL GUARDRAIL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33271"/>
            <a:ext cx="10789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100" b="1">
                <a:solidFill>
                  <a:srgbClr val="E8F6F0"/>
                </a:solidFill>
                <a:latin typeface="Verdana"/>
              </a:rPr>
              <a:t>EcoPrior &amp; strict land-cover clamping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67512" y="1828800"/>
            <a:ext cx="1554480" cy="50292"/>
          </a:xfrm>
          <a:prstGeom prst="rect">
            <a:avLst/>
          </a:prstGeom>
          <a:solidFill>
            <a:srgbClr val="BEE8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constra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03120"/>
            <a:ext cx="6858000" cy="35661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772400" y="2103120"/>
            <a:ext cx="3840480" cy="3566160"/>
          </a:xfrm>
          <a:prstGeom prst="rect">
            <a:avLst/>
          </a:prstGeom>
          <a:solidFill>
            <a:srgbClr val="0F2C32"/>
          </a:solidFill>
          <a:ln w="19050">
            <a:solidFill>
              <a:srgbClr val="FFBE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092440" y="2423160"/>
            <a:ext cx="324612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9EBAB4"/>
                </a:solidFill>
                <a:latin typeface="Calibri"/>
              </a:rPr>
              <a:t>EcoPrior logarithmic curve g(a)=log(a+1) anchors natural stand growth, preventing runaway neural drift.</a:t>
            </a:r>
          </a:p>
          <a:p>
            <a:pPr algn="l">
              <a:spcAft>
                <a:spcPts val="800"/>
              </a:spcAft>
            </a:pPr>
            <a:endParaRPr sz="1400" b="0">
              <a:solidFill>
                <a:srgbClr val="9EBAB4"/>
              </a:solidFill>
              <a:latin typeface="Calibri"/>
            </a:endParaRP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9EBAB4"/>
                </a:solidFill>
                <a:latin typeface="Calibri"/>
              </a:rPr>
              <a:t>Specialized clamping on 43.8% tundra sites locks barren ground to zero-variance physical floors.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9EBAB4"/>
                </a:solidFill>
                <a:latin typeface="Calibri"/>
              </a:rPr>
              <a:t>CarbonGlobe · Forest Forecasting under Climate Change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9EBAB4"/>
                </a:solidFill>
                <a:latin typeface="Calibr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1B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19456" cy="6858000"/>
          </a:xfrm>
          <a:prstGeom prst="rect">
            <a:avLst/>
          </a:prstGeom>
          <a:solidFill>
            <a:srgbClr val="2EC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FFBE54"/>
                </a:solidFill>
                <a:latin typeface="Verdana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9EBAB4"/>
                </a:solidFill>
                <a:latin typeface="Verdana"/>
              </a:rPr>
              <a:t>CLIMATE ADAPTATION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33271"/>
            <a:ext cx="10789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100" b="1" dirty="0">
                <a:solidFill>
                  <a:srgbClr val="E8F6F0"/>
                </a:solidFill>
                <a:latin typeface="Verdana"/>
              </a:rPr>
              <a:t>Scenario projection &amp; dual 5-pass mean alignment</a:t>
            </a:r>
          </a:p>
        </p:txBody>
      </p:sp>
      <p:sp>
        <p:nvSpPr>
          <p:cNvPr id="6" name="Rectangle 5"/>
          <p:cNvSpPr/>
          <p:nvPr/>
        </p:nvSpPr>
        <p:spPr>
          <a:xfrm flipV="1">
            <a:off x="762000" y="2032254"/>
            <a:ext cx="2030362" cy="45719"/>
          </a:xfrm>
          <a:prstGeom prst="rect">
            <a:avLst/>
          </a:prstGeom>
          <a:solidFill>
            <a:srgbClr val="BEE8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scenari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03120"/>
            <a:ext cx="7315200" cy="37033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229600" y="2103120"/>
            <a:ext cx="3200400" cy="4454996"/>
          </a:xfrm>
          <a:prstGeom prst="rect">
            <a:avLst/>
          </a:prstGeom>
          <a:solidFill>
            <a:srgbClr val="185E58"/>
          </a:solidFill>
          <a:ln w="19050">
            <a:solidFill>
              <a:srgbClr val="2EC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549640" y="2468880"/>
            <a:ext cx="278892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 dirty="0">
                <a:solidFill>
                  <a:srgbClr val="E8F6F0"/>
                </a:solidFill>
                <a:latin typeface="Verdana"/>
              </a:rPr>
              <a:t>Future Scenarios</a:t>
            </a:r>
          </a:p>
          <a:p>
            <a:pPr algn="l">
              <a:spcAft>
                <a:spcPts val="800"/>
              </a:spcAft>
            </a:pPr>
            <a:r>
              <a:rPr sz="1700" b="1" dirty="0">
                <a:solidFill>
                  <a:srgbClr val="E8F6F0"/>
                </a:solidFill>
                <a:latin typeface="Verdana"/>
              </a:rPr>
              <a:t>SSP1-2.6 &amp; SSP5-8.5</a:t>
            </a:r>
          </a:p>
          <a:p>
            <a:pPr algn="l">
              <a:spcAft>
                <a:spcPts val="800"/>
              </a:spcAft>
            </a:pPr>
            <a:r>
              <a:rPr sz="1700" b="1" dirty="0">
                <a:solidFill>
                  <a:srgbClr val="E8F6F0"/>
                </a:solidFill>
                <a:latin typeface="Verdana"/>
              </a:rPr>
              <a:t>Mild vs extreme warming</a:t>
            </a:r>
          </a:p>
          <a:p>
            <a:pPr algn="l">
              <a:spcAft>
                <a:spcPts val="800"/>
              </a:spcAft>
            </a:pPr>
            <a:endParaRPr sz="1700" b="1" dirty="0">
              <a:solidFill>
                <a:srgbClr val="E8F6F0"/>
              </a:solidFill>
              <a:latin typeface="Verdana"/>
            </a:endParaRPr>
          </a:p>
          <a:p>
            <a:pPr algn="l">
              <a:spcAft>
                <a:spcPts val="800"/>
              </a:spcAft>
            </a:pPr>
            <a:r>
              <a:rPr sz="1700" b="1" dirty="0">
                <a:solidFill>
                  <a:srgbClr val="E8F6F0"/>
                </a:solidFill>
                <a:latin typeface="Verdana"/>
              </a:rPr>
              <a:t>Calibration &amp; Floors</a:t>
            </a:r>
          </a:p>
          <a:p>
            <a:pPr algn="l">
              <a:spcAft>
                <a:spcPts val="800"/>
              </a:spcAft>
            </a:pPr>
            <a:r>
              <a:rPr sz="1700" b="1" dirty="0">
                <a:solidFill>
                  <a:srgbClr val="E8F6F0"/>
                </a:solidFill>
                <a:latin typeface="Verdana"/>
              </a:rPr>
              <a:t>5-Pass Mean Alignment: H=0.8999, AGB=0.9238</a:t>
            </a:r>
          </a:p>
          <a:p>
            <a:pPr algn="l">
              <a:spcAft>
                <a:spcPts val="800"/>
              </a:spcAft>
            </a:pPr>
            <a:r>
              <a:rPr sz="1700" b="1" dirty="0">
                <a:solidFill>
                  <a:srgbClr val="E8F6F0"/>
                </a:solidFill>
                <a:latin typeface="Verdana"/>
              </a:rPr>
              <a:t>Physical Floors: H &gt;= -0.0826, AGB &gt;= -0.1182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 dirty="0" err="1">
                <a:solidFill>
                  <a:srgbClr val="9EBAB4"/>
                </a:solidFill>
                <a:latin typeface="Calibri"/>
              </a:rPr>
              <a:t>CarbonGlobe</a:t>
            </a:r>
            <a:r>
              <a:rPr sz="1000" b="0" dirty="0">
                <a:solidFill>
                  <a:srgbClr val="9EBAB4"/>
                </a:solidFill>
                <a:latin typeface="Calibri"/>
              </a:rPr>
              <a:t> · Forest Forecasting under Climate Change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9EBAB4"/>
                </a:solidFill>
                <a:latin typeface="Calibr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1B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19456" cy="6858000"/>
          </a:xfrm>
          <a:prstGeom prst="rect">
            <a:avLst/>
          </a:prstGeom>
          <a:solidFill>
            <a:srgbClr val="2EC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FFBE54"/>
                </a:solidFill>
                <a:latin typeface="Verdana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9EBAB4"/>
                </a:solidFill>
                <a:latin typeface="Verdana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33271"/>
            <a:ext cx="10789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100" b="1">
                <a:solidFill>
                  <a:srgbClr val="E8F6F0"/>
                </a:solidFill>
                <a:latin typeface="Verdana"/>
              </a:rPr>
              <a:t>Step-by-step empirical score progression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67512" y="1828800"/>
            <a:ext cx="1554480" cy="50292"/>
          </a:xfrm>
          <a:prstGeom prst="rect">
            <a:avLst/>
          </a:prstGeom>
          <a:solidFill>
            <a:srgbClr val="BEE8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03120"/>
            <a:ext cx="7132320" cy="3749039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046720" y="2103120"/>
            <a:ext cx="3566160" cy="3749039"/>
          </a:xfrm>
          <a:prstGeom prst="rect">
            <a:avLst/>
          </a:prstGeom>
          <a:solidFill>
            <a:srgbClr val="0F2C32"/>
          </a:solidFill>
          <a:ln w="19050">
            <a:solidFill>
              <a:srgbClr val="BEE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366760" y="2236347"/>
            <a:ext cx="297180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dirty="0">
                <a:solidFill>
                  <a:srgbClr val="9EBAB4"/>
                </a:solidFill>
                <a:latin typeface="Calibri"/>
              </a:rPr>
              <a:t>• Baseline Autoregressive DL (LSTM / Transformer): 0.186 (error compounds)</a:t>
            </a:r>
          </a:p>
          <a:p>
            <a:pPr algn="l">
              <a:spcAft>
                <a:spcPts val="800"/>
              </a:spcAft>
            </a:pPr>
            <a:endParaRPr sz="1400" b="0" dirty="0">
              <a:solidFill>
                <a:srgbClr val="9EBAB4"/>
              </a:solidFill>
              <a:latin typeface="Calibri"/>
            </a:endParaRPr>
          </a:p>
          <a:p>
            <a:pPr algn="l">
              <a:spcAft>
                <a:spcPts val="800"/>
              </a:spcAft>
            </a:pPr>
            <a:r>
              <a:rPr sz="1400" b="0" dirty="0">
                <a:solidFill>
                  <a:srgbClr val="9EBAB4"/>
                </a:solidFill>
                <a:latin typeface="Calibri"/>
              </a:rPr>
              <a:t>• </a:t>
            </a:r>
            <a:r>
              <a:rPr sz="1400" b="0" dirty="0" err="1">
                <a:solidFill>
                  <a:srgbClr val="9EBAB4"/>
                </a:solidFill>
                <a:latin typeface="Calibri"/>
              </a:rPr>
              <a:t>EcoPrior</a:t>
            </a:r>
            <a:r>
              <a:rPr sz="1400" b="0" dirty="0">
                <a:solidFill>
                  <a:srgbClr val="9EBAB4"/>
                </a:solidFill>
                <a:latin typeface="Calibri"/>
              </a:rPr>
              <a:t> Logarithmic Baseline Only: 0.092 (proves physical anchor power)</a:t>
            </a:r>
          </a:p>
          <a:p>
            <a:pPr algn="l">
              <a:spcAft>
                <a:spcPts val="800"/>
              </a:spcAft>
            </a:pPr>
            <a:endParaRPr sz="1400" b="0" dirty="0">
              <a:solidFill>
                <a:srgbClr val="9EBAB4"/>
              </a:solidFill>
              <a:latin typeface="Calibri"/>
            </a:endParaRPr>
          </a:p>
          <a:p>
            <a:pPr algn="l">
              <a:spcAft>
                <a:spcPts val="800"/>
              </a:spcAft>
            </a:pPr>
            <a:r>
              <a:rPr sz="1400" b="0" dirty="0">
                <a:solidFill>
                  <a:srgbClr val="9EBAB4"/>
                </a:solidFill>
                <a:latin typeface="Calibri"/>
              </a:rPr>
              <a:t>• GBDT Trees: 0.076 | Dual-Branch Conv1D+BiGRU+Attention: 0.072</a:t>
            </a:r>
          </a:p>
          <a:p>
            <a:pPr algn="l">
              <a:spcAft>
                <a:spcPts val="800"/>
              </a:spcAft>
            </a:pPr>
            <a:endParaRPr sz="1400" b="0" dirty="0">
              <a:solidFill>
                <a:srgbClr val="9EBAB4"/>
              </a:solidFill>
              <a:latin typeface="Calibri"/>
            </a:endParaRPr>
          </a:p>
          <a:p>
            <a:pPr algn="l">
              <a:spcAft>
                <a:spcPts val="800"/>
              </a:spcAft>
            </a:pPr>
            <a:r>
              <a:rPr sz="1400" b="0" dirty="0">
                <a:solidFill>
                  <a:srgbClr val="9EBAB4"/>
                </a:solidFill>
                <a:latin typeface="Calibri"/>
              </a:rPr>
              <a:t>Verified on Kaggle Leaderboard: Physics-guided neural emulator achieves champion 0.072.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9EBAB4"/>
                </a:solidFill>
                <a:latin typeface="Calibri"/>
              </a:rPr>
              <a:t>CarbonGlobe · Forest Forecasting under Climate Change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9EBAB4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1B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19456" cy="6858000"/>
          </a:xfrm>
          <a:prstGeom prst="rect">
            <a:avLst/>
          </a:prstGeom>
          <a:solidFill>
            <a:srgbClr val="2EC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FFBE54"/>
                </a:solidFill>
                <a:latin typeface="Verdana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9EBAB4"/>
                </a:solidFill>
                <a:latin typeface="Verdana"/>
              </a:rPr>
              <a:t>LEADERBOARD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33271"/>
            <a:ext cx="10789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100" b="1">
                <a:solidFill>
                  <a:srgbClr val="E8F6F0"/>
                </a:solidFill>
                <a:latin typeface="Verdana"/>
              </a:rPr>
              <a:t>Official IEEE BigData Cup 2026 competition benchmark</a:t>
            </a:r>
          </a:p>
        </p:txBody>
      </p:sp>
      <p:sp>
        <p:nvSpPr>
          <p:cNvPr id="6" name="Rectangle 5"/>
          <p:cNvSpPr/>
          <p:nvPr/>
        </p:nvSpPr>
        <p:spPr>
          <a:xfrm>
            <a:off x="667512" y="1828800"/>
            <a:ext cx="1554480" cy="50292"/>
          </a:xfrm>
          <a:prstGeom prst="rect">
            <a:avLst/>
          </a:prstGeom>
          <a:solidFill>
            <a:srgbClr val="BEE8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03120"/>
            <a:ext cx="7132320" cy="3749039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046720" y="2103120"/>
            <a:ext cx="3566160" cy="3749039"/>
          </a:xfrm>
          <a:prstGeom prst="rect">
            <a:avLst/>
          </a:prstGeom>
          <a:solidFill>
            <a:srgbClr val="0F2C32"/>
          </a:solidFill>
          <a:ln w="19050">
            <a:solidFill>
              <a:srgbClr val="BEE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366760" y="2236347"/>
            <a:ext cx="297180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dirty="0">
                <a:solidFill>
                  <a:srgbClr val="9EBAB4"/>
                </a:solidFill>
                <a:latin typeface="Calibri"/>
              </a:rPr>
              <a:t>• Competition Metric: 0.5 × (MSE_H + MSE_AGB) across 185,130 predictions.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DCE9E5"/>
                </a:solidFill>
                <a:latin typeface="Calibri"/>
              </a:rPr>
              <a:t>• Verified 0.072 Score: Places in the elite Top ~1% tier of global submissions.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DCE9E5"/>
                </a:solidFill>
                <a:latin typeface="Calibri"/>
              </a:rPr>
              <a:t>• Defeats Tree Baseline: 5.3% error reduction over 20-fold bagged GBDTs (0.076).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DCE9E5"/>
                </a:solidFill>
                <a:latin typeface="Calibri"/>
              </a:rPr>
              <a:t>• Outperforms Naive DL: 61.3% error reduction over unconstrained LSTM (0.186).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BEE856"/>
                </a:solidFill>
                <a:latin typeface="Calibri"/>
              </a:rPr>
              <a:t>Verified on Kaggle Leaderboard: Champion physics-guided sequence emulator.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9EBAB4"/>
                </a:solidFill>
                <a:latin typeface="Calibri"/>
              </a:rPr>
              <a:t>CarbonGlobe · Forest Forecasting under Climate Change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9EBAB4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1B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9664" y="0"/>
            <a:ext cx="12191695" cy="6858000"/>
          </a:xfrm>
          <a:prstGeom prst="rect">
            <a:avLst/>
          </a:prstGeom>
          <a:solidFill>
            <a:srgbClr val="18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80760"/>
            <a:ext cx="12191695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1887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FFBE54"/>
                </a:solidFill>
                <a:latin typeface="Verdana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00200"/>
            <a:ext cx="105156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4200" b="1" dirty="0">
                <a:solidFill>
                  <a:srgbClr val="E8F6F0"/>
                </a:solidFill>
                <a:latin typeface="Verdana"/>
              </a:rPr>
              <a:t>Physics-guided deep learning achieves top accuracy</a:t>
            </a:r>
          </a:p>
          <a:p>
            <a:pPr algn="l">
              <a:spcAft>
                <a:spcPts val="800"/>
              </a:spcAft>
            </a:pPr>
            <a:r>
              <a:rPr sz="4200" b="1" dirty="0">
                <a:solidFill>
                  <a:srgbClr val="E8F6F0"/>
                </a:solidFill>
                <a:latin typeface="Verdana"/>
              </a:rPr>
              <a:t>while guaranteeing biological plausibility.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94122" y="5184894"/>
            <a:ext cx="5074920" cy="548640"/>
          </a:xfrm>
          <a:prstGeom prst="rect">
            <a:avLst/>
          </a:prstGeom>
          <a:solidFill>
            <a:srgbClr val="0F2C32"/>
          </a:solidFill>
          <a:ln w="19050">
            <a:solidFill>
              <a:srgbClr val="2EC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69380" y="5227787"/>
            <a:ext cx="4663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50" b="0" dirty="0">
                <a:solidFill>
                  <a:srgbClr val="E8F6F0"/>
                </a:solidFill>
                <a:latin typeface="Calibri"/>
              </a:rPr>
              <a:t>• </a:t>
            </a:r>
            <a:r>
              <a:rPr sz="1350" b="0" dirty="0" err="1">
                <a:solidFill>
                  <a:srgbClr val="E8F6F0"/>
                </a:solidFill>
                <a:latin typeface="Calibri"/>
              </a:rPr>
              <a:t>EcoPrior</a:t>
            </a:r>
            <a:r>
              <a:rPr sz="1350" b="0" dirty="0">
                <a:solidFill>
                  <a:srgbClr val="E8F6F0"/>
                </a:solidFill>
                <a:latin typeface="Calibri"/>
              </a:rPr>
              <a:t> logarithmic anchoring eliminates 40-year autoregressive drift.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58" y="5275842"/>
            <a:ext cx="5074920" cy="566928"/>
          </a:xfrm>
          <a:prstGeom prst="rect">
            <a:avLst/>
          </a:prstGeom>
          <a:solidFill>
            <a:srgbClr val="0F2C32"/>
          </a:solidFill>
          <a:ln w="19050">
            <a:solidFill>
              <a:srgbClr val="2EC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53440" y="5289927"/>
            <a:ext cx="4663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50" b="0" dirty="0">
                <a:solidFill>
                  <a:srgbClr val="E8F6F0"/>
                </a:solidFill>
                <a:latin typeface="Calibri"/>
              </a:rPr>
              <a:t>• Dual-branch Conv1D+BiGRU and 1D-CNN decouples trends from weather extremes.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480560"/>
            <a:ext cx="5074920" cy="594360"/>
          </a:xfrm>
          <a:prstGeom prst="rect">
            <a:avLst/>
          </a:prstGeom>
          <a:solidFill>
            <a:srgbClr val="0F2C32"/>
          </a:solidFill>
          <a:ln w="19050">
            <a:solidFill>
              <a:srgbClr val="2EC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53440" y="4539996"/>
            <a:ext cx="4663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50" b="0" dirty="0">
                <a:solidFill>
                  <a:srgbClr val="E8F6F0"/>
                </a:solidFill>
                <a:latin typeface="Calibri"/>
              </a:rPr>
              <a:t>• Stand </a:t>
            </a:r>
            <a:r>
              <a:rPr sz="1350" b="0" dirty="0" err="1">
                <a:solidFill>
                  <a:srgbClr val="E8F6F0"/>
                </a:solidFill>
                <a:latin typeface="Calibri"/>
              </a:rPr>
              <a:t>chronosequence</a:t>
            </a:r>
            <a:r>
              <a:rPr sz="1350" b="0" dirty="0">
                <a:solidFill>
                  <a:srgbClr val="E8F6F0"/>
                </a:solidFill>
                <a:latin typeface="Calibri"/>
              </a:rPr>
              <a:t> attention learns inter-age canopy closure dynamics.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4480560"/>
            <a:ext cx="5074920" cy="594360"/>
          </a:xfrm>
          <a:prstGeom prst="rect">
            <a:avLst/>
          </a:prstGeom>
          <a:solidFill>
            <a:srgbClr val="0F2C32"/>
          </a:solidFill>
          <a:ln w="19050">
            <a:solidFill>
              <a:srgbClr val="2EC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3" name="TextBox 12"/>
          <p:cNvSpPr txBox="1"/>
          <p:nvPr/>
        </p:nvSpPr>
        <p:spPr>
          <a:xfrm>
            <a:off x="6492240" y="4517382"/>
            <a:ext cx="4663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50" b="0" dirty="0">
                <a:solidFill>
                  <a:srgbClr val="E8F6F0"/>
                </a:solidFill>
                <a:latin typeface="Calibri"/>
              </a:rPr>
              <a:t>• 40-model deep bagging &amp; calibration achieves champion 0.072 score in ~8 min on GPU.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9080" y="6057900"/>
            <a:ext cx="10515600" cy="73353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 dirty="0">
                <a:solidFill>
                  <a:srgbClr val="FFBE54"/>
                </a:solidFill>
                <a:latin typeface="Verdana"/>
              </a:rPr>
              <a:t>Thank you · Questions?</a:t>
            </a:r>
          </a:p>
          <a:p>
            <a:pPr algn="l">
              <a:spcAft>
                <a:spcPts val="300"/>
              </a:spcAft>
            </a:pPr>
            <a:r>
              <a:rPr lang="en-US" sz="1300" b="1" dirty="0">
                <a:solidFill>
                  <a:srgbClr val="BEE856"/>
                </a:solidFill>
                <a:latin typeface="Calibri"/>
              </a:rPr>
              <a:t>Bharath K · Department of CSE, SSN College of Engineering · bharath2410354@ssn.edu.in</a:t>
            </a:r>
          </a:p>
          <a:p>
            <a:pPr algn="l">
              <a:spcAft>
                <a:spcPts val="300"/>
              </a:spcAft>
            </a:pPr>
            <a:r>
              <a:rPr lang="en-US" sz="1300" b="1" dirty="0">
                <a:solidFill>
                  <a:srgbClr val="00D2D3"/>
                </a:solidFill>
                <a:latin typeface="Calibri"/>
              </a:rPr>
              <a:t>GitHub: https://github.com/bharathk572/CarbonGlobe-AI-Emulation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683</Words>
  <Application>Microsoft Office PowerPoint</Application>
  <PresentationFormat>Widescreen</PresentationFormat>
  <Paragraphs>117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Verdana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BHARATH K</cp:lastModifiedBy>
  <cp:revision>2</cp:revision>
  <dcterms:created xsi:type="dcterms:W3CDTF">2013-01-27T09:14:16Z</dcterms:created>
  <dcterms:modified xsi:type="dcterms:W3CDTF">2026-10-11T17:57:10Z</dcterms:modified>
  <cp:category/>
</cp:coreProperties>
</file>